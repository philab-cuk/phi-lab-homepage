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554480"/>
            <a:ext cx="4754880" cy="4754880"/>
          </a:xfrm>
          <a:prstGeom prst="ellipse">
            <a:avLst/>
          </a:prstGeom>
          <a:solidFill>
            <a:srgbClr val="0C2E86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291840" cy="3291840"/>
          </a:xfrm>
          <a:prstGeom prst="ellipse">
            <a:avLst/>
          </a:prstGeom>
          <a:solidFill>
            <a:srgbClr val="17357F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7D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 MEMBER ONBOARDING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1874520"/>
            <a:ext cx="8595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PHI Lab 홈페이지</a:t>
            </a:r>
            <a:endParaRPr lang="en-US" sz="48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매뉴얼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66928" y="3977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7D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구성원을 위한 소개 &amp; 사용 안내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66928" y="4709160"/>
            <a:ext cx="3840480" cy="0"/>
          </a:xfrm>
          <a:prstGeom prst="line">
            <a:avLst/>
          </a:prstGeom>
          <a:noFill/>
          <a:ln w="19050">
            <a:solidFill>
              <a:srgbClr val="C29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4892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philabcuk.org</a:t>
            </a:r>
            <a:pPr indent="0" marL="0">
              <a:buNone/>
            </a:pPr>
            <a:r>
              <a:rPr lang="en-US" sz="1300" dirty="0">
                <a:solidFill>
                  <a:srgbClr val="B9C3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Precision &amp; Provenance Health Informatics Lab · The Catholic University of Korea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9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매뉴얼에서 다루는 내용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532632" cy="1783080"/>
          </a:xfrm>
          <a:prstGeom prst="roundRect">
            <a:avLst>
              <a:gd name="adj" fmla="val 4615"/>
            </a:avLst>
          </a:prstGeom>
          <a:solidFill>
            <a:srgbClr val="EEF2FB"/>
          </a:solidFill>
          <a:ln w="9525">
            <a:solidFill>
              <a:srgbClr val="D9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84248"/>
            <a:ext cx="566928" cy="566928"/>
          </a:xfrm>
          <a:prstGeom prst="ellipse">
            <a:avLst/>
          </a:prstGeom>
          <a:solidFill>
            <a:srgbClr val="0C2E86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842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72768" y="2002536"/>
            <a:ext cx="2343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홈페이지 소개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" y="2743200"/>
            <a:ext cx="2983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무엇을, 왜 만들었나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8160" y="1691640"/>
            <a:ext cx="3532632" cy="1783080"/>
          </a:xfrm>
          <a:prstGeom prst="roundRect">
            <a:avLst>
              <a:gd name="adj" fmla="val 4615"/>
            </a:avLst>
          </a:prstGeom>
          <a:solidFill>
            <a:srgbClr val="F6F1E1"/>
          </a:solidFill>
          <a:ln w="9525">
            <a:solidFill>
              <a:srgbClr val="D9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2480" y="1984248"/>
            <a:ext cx="566928" cy="566928"/>
          </a:xfrm>
          <a:prstGeom prst="ellipse">
            <a:avLst/>
          </a:prstGeom>
          <a:solidFill>
            <a:srgbClr val="C29A2E"/>
          </a:solidFill>
          <a:ln/>
        </p:spPr>
      </p:sp>
      <p:sp>
        <p:nvSpPr>
          <p:cNvPr id="11" name="Text 9"/>
          <p:cNvSpPr/>
          <p:nvPr/>
        </p:nvSpPr>
        <p:spPr>
          <a:xfrm>
            <a:off x="4602480" y="19842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34000" y="2002536"/>
            <a:ext cx="2343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페이지 지도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20768" y="2743200"/>
            <a:ext cx="2983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방문자가 보는 메뉴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9392" y="1691640"/>
            <a:ext cx="3532632" cy="1783080"/>
          </a:xfrm>
          <a:prstGeom prst="roundRect">
            <a:avLst>
              <a:gd name="adj" fmla="val 4615"/>
            </a:avLst>
          </a:prstGeom>
          <a:solidFill>
            <a:srgbClr val="EEF2FB"/>
          </a:solidFill>
          <a:ln w="9525">
            <a:solidFill>
              <a:srgbClr val="D9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3712" y="1984248"/>
            <a:ext cx="566928" cy="566928"/>
          </a:xfrm>
          <a:prstGeom prst="ellipse">
            <a:avLst/>
          </a:prstGeom>
          <a:solidFill>
            <a:srgbClr val="0C2E86"/>
          </a:solidFill>
          <a:ln/>
        </p:spPr>
      </p:sp>
      <p:sp>
        <p:nvSpPr>
          <p:cNvPr id="16" name="Text 14"/>
          <p:cNvSpPr/>
          <p:nvPr/>
        </p:nvSpPr>
        <p:spPr>
          <a:xfrm>
            <a:off x="8363712" y="19842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095232" y="2002536"/>
            <a:ext cx="2343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구조 &amp; 로그인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82000" y="2743200"/>
            <a:ext cx="2983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굴러가나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749040"/>
            <a:ext cx="3532632" cy="1783080"/>
          </a:xfrm>
          <a:prstGeom prst="roundRect">
            <a:avLst>
              <a:gd name="adj" fmla="val 4615"/>
            </a:avLst>
          </a:prstGeom>
          <a:solidFill>
            <a:srgbClr val="F6F1E1"/>
          </a:solidFill>
          <a:ln w="9525">
            <a:solidFill>
              <a:srgbClr val="D9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" y="4041648"/>
            <a:ext cx="566928" cy="566928"/>
          </a:xfrm>
          <a:prstGeom prst="ellipse">
            <a:avLst/>
          </a:prstGeom>
          <a:solidFill>
            <a:srgbClr val="C29A2E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40416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72768" y="4059936"/>
            <a:ext cx="2343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작성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9536" y="4800600"/>
            <a:ext cx="2983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News · Gallery · Posts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28160" y="3749040"/>
            <a:ext cx="3532632" cy="1783080"/>
          </a:xfrm>
          <a:prstGeom prst="roundRect">
            <a:avLst>
              <a:gd name="adj" fmla="val 4615"/>
            </a:avLst>
          </a:prstGeom>
          <a:solidFill>
            <a:srgbClr val="EEF2FB"/>
          </a:solidFill>
          <a:ln w="9525">
            <a:solidFill>
              <a:srgbClr val="D9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02480" y="4041648"/>
            <a:ext cx="566928" cy="566928"/>
          </a:xfrm>
          <a:prstGeom prst="ellipse">
            <a:avLst/>
          </a:prstGeom>
          <a:solidFill>
            <a:srgbClr val="0C2E86"/>
          </a:solidFill>
          <a:ln/>
        </p:spPr>
      </p:sp>
      <p:sp>
        <p:nvSpPr>
          <p:cNvPr id="26" name="Text 24"/>
          <p:cNvSpPr/>
          <p:nvPr/>
        </p:nvSpPr>
        <p:spPr>
          <a:xfrm>
            <a:off x="4602480" y="40416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34000" y="4059936"/>
            <a:ext cx="2343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프로필 &amp; 가이드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20768" y="4800600"/>
            <a:ext cx="2983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스타일·이미지 규칙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089392" y="3749040"/>
            <a:ext cx="3532632" cy="1783080"/>
          </a:xfrm>
          <a:prstGeom prst="roundRect">
            <a:avLst>
              <a:gd name="adj" fmla="val 4615"/>
            </a:avLst>
          </a:prstGeom>
          <a:solidFill>
            <a:srgbClr val="F6F1E1"/>
          </a:solidFill>
          <a:ln w="9525">
            <a:solidFill>
              <a:srgbClr val="D9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63712" y="4041648"/>
            <a:ext cx="566928" cy="566928"/>
          </a:xfrm>
          <a:prstGeom prst="ellipse">
            <a:avLst/>
          </a:prstGeom>
          <a:solidFill>
            <a:srgbClr val="C29A2E"/>
          </a:solidFill>
          <a:ln/>
        </p:spPr>
      </p:sp>
      <p:sp>
        <p:nvSpPr>
          <p:cNvPr id="31" name="Text 29"/>
          <p:cNvSpPr/>
          <p:nvPr/>
        </p:nvSpPr>
        <p:spPr>
          <a:xfrm>
            <a:off x="8363712" y="40416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095232" y="4059936"/>
            <a:ext cx="2343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FAQ · 안전수칙 · 문의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82000" y="4800600"/>
            <a:ext cx="2983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막힐 때 보는 곳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PHI Lab 홈페이지 운영 매뉴얼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9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WHAT IS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홈페이지는 무엇인가요?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85216" y="1847088"/>
            <a:ext cx="146304" cy="146304"/>
          </a:xfrm>
          <a:prstGeom prst="ellipse">
            <a:avLst/>
          </a:prstGeom>
          <a:solidFill>
            <a:srgbClr val="C29A2E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" y="17373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연구실의 공식 대외 창구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77824" y="2112264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연구·구성원·성과·소식을 외부에 알리는 연구실의 얼굴입니다.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85216" y="3054096"/>
            <a:ext cx="146304" cy="146304"/>
          </a:xfrm>
          <a:prstGeom prst="ellipse">
            <a:avLst/>
          </a:prstGeom>
          <a:solidFill>
            <a:srgbClr val="C29A2E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294436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주소는 philabcuk.org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77824" y="3319272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구글·네이버 검색에 등록되어 있어 누구나 찾을 수 있습니다.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85216" y="4261104"/>
            <a:ext cx="146304" cy="146304"/>
          </a:xfrm>
          <a:prstGeom prst="ellipse">
            <a:avLst/>
          </a:prstGeom>
          <a:solidFill>
            <a:srgbClr val="C29A2E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4151376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한곳에서 모두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77824" y="45262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논문·강의·행사·갤러리·소식까지 한 사이트에 모읍니다.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223760" y="1737360"/>
            <a:ext cx="4389120" cy="1170432"/>
          </a:xfrm>
          <a:prstGeom prst="roundRect">
            <a:avLst>
              <a:gd name="adj" fmla="val 7031"/>
            </a:avLst>
          </a:prstGeom>
          <a:solidFill>
            <a:srgbClr val="EEF2FB"/>
          </a:solidFill>
          <a:ln w="9525">
            <a:solidFill>
              <a:srgbClr val="D9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43800" y="1847088"/>
            <a:ext cx="17373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C2E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10+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281160" y="1737360"/>
            <a:ext cx="20574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메뉴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223760" y="3108960"/>
            <a:ext cx="4389120" cy="1170432"/>
          </a:xfrm>
          <a:prstGeom prst="roundRect">
            <a:avLst>
              <a:gd name="adj" fmla="val 7031"/>
            </a:avLst>
          </a:prstGeom>
          <a:solidFill>
            <a:srgbClr val="EEF2FB"/>
          </a:solidFill>
          <a:ln w="9525">
            <a:solidFill>
              <a:srgbClr val="D9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43800" y="3218688"/>
            <a:ext cx="17373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29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281160" y="3108960"/>
            <a:ext cx="20574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재배포 없이 즉시 반영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223760" y="4480560"/>
            <a:ext cx="4389120" cy="1170432"/>
          </a:xfrm>
          <a:prstGeom prst="roundRect">
            <a:avLst>
              <a:gd name="adj" fmla="val 7031"/>
            </a:avLst>
          </a:prstGeom>
          <a:solidFill>
            <a:srgbClr val="EEF2FB"/>
          </a:solidFill>
          <a:ln w="9525">
            <a:solidFill>
              <a:srgbClr val="D9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43800" y="4590288"/>
            <a:ext cx="17373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5B9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한·영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9281160" y="4480560"/>
            <a:ext cx="20574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병기 지원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PHI Lab 홈페이지 운영 매뉴얼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9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SITE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페이지 둘러보기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344668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9525">
            <a:solidFill>
              <a:srgbClr val="D9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38528"/>
            <a:ext cx="164592" cy="164592"/>
          </a:xfrm>
          <a:prstGeom prst="ellipse">
            <a:avLst/>
          </a:prstGeom>
          <a:solidFill>
            <a:srgbClr val="0C2E86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" y="164592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Professor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767328" y="1645920"/>
            <a:ext cx="19613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 소개·이력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7356" y="1645920"/>
            <a:ext cx="5344668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9525">
            <a:solidFill>
              <a:srgbClr val="D9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51676" y="1938528"/>
            <a:ext cx="164592" cy="164592"/>
          </a:xfrm>
          <a:prstGeom prst="ellipse">
            <a:avLst/>
          </a:prstGeom>
          <a:solidFill>
            <a:srgbClr val="C29A2E"/>
          </a:solidFill>
          <a:ln/>
        </p:spPr>
      </p:sp>
      <p:sp>
        <p:nvSpPr>
          <p:cNvPr id="10" name="Text 8"/>
          <p:cNvSpPr/>
          <p:nvPr/>
        </p:nvSpPr>
        <p:spPr>
          <a:xfrm>
            <a:off x="6844284" y="164592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Current Research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477756" y="1645920"/>
            <a:ext cx="19613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중인 연구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2578608"/>
            <a:ext cx="5344668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9525">
            <a:solidFill>
              <a:srgbClr val="D9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" y="2871216"/>
            <a:ext cx="164592" cy="164592"/>
          </a:xfrm>
          <a:prstGeom prst="ellipse">
            <a:avLst/>
          </a:prstGeom>
          <a:solidFill>
            <a:srgbClr val="0C2E86"/>
          </a:solidFill>
          <a:ln/>
        </p:spPr>
      </p:sp>
      <p:sp>
        <p:nvSpPr>
          <p:cNvPr id="14" name="Text 12"/>
          <p:cNvSpPr/>
          <p:nvPr/>
        </p:nvSpPr>
        <p:spPr>
          <a:xfrm>
            <a:off x="1133856" y="2578608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Publications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67328" y="2578608"/>
            <a:ext cx="19613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논문·저서·특허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77356" y="2578608"/>
            <a:ext cx="5344668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9525">
            <a:solidFill>
              <a:srgbClr val="D9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51676" y="2871216"/>
            <a:ext cx="164592" cy="164592"/>
          </a:xfrm>
          <a:prstGeom prst="ellipse">
            <a:avLst/>
          </a:prstGeom>
          <a:solidFill>
            <a:srgbClr val="C29A2E"/>
          </a:solidFill>
          <a:ln/>
        </p:spPr>
      </p:sp>
      <p:sp>
        <p:nvSpPr>
          <p:cNvPr id="18" name="Text 16"/>
          <p:cNvSpPr/>
          <p:nvPr/>
        </p:nvSpPr>
        <p:spPr>
          <a:xfrm>
            <a:off x="6844284" y="2578608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Teaching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477756" y="2578608"/>
            <a:ext cx="19613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대학·대학원 강의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3511296"/>
            <a:ext cx="5344668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9525">
            <a:solidFill>
              <a:srgbClr val="D9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3803904"/>
            <a:ext cx="164592" cy="164592"/>
          </a:xfrm>
          <a:prstGeom prst="ellipse">
            <a:avLst/>
          </a:prstGeom>
          <a:solidFill>
            <a:srgbClr val="0C2E86"/>
          </a:solidFill>
          <a:ln/>
        </p:spPr>
      </p:sp>
      <p:sp>
        <p:nvSpPr>
          <p:cNvPr id="22" name="Text 20"/>
          <p:cNvSpPr/>
          <p:nvPr/>
        </p:nvSpPr>
        <p:spPr>
          <a:xfrm>
            <a:off x="1133856" y="3511296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767328" y="3511296"/>
            <a:ext cx="19613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(GHMW·워크숍)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77356" y="3511296"/>
            <a:ext cx="5344668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9525">
            <a:solidFill>
              <a:srgbClr val="D9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51676" y="3803904"/>
            <a:ext cx="164592" cy="164592"/>
          </a:xfrm>
          <a:prstGeom prst="ellipse">
            <a:avLst/>
          </a:prstGeom>
          <a:solidFill>
            <a:srgbClr val="C29A2E"/>
          </a:solidFill>
          <a:ln/>
        </p:spPr>
      </p:sp>
      <p:sp>
        <p:nvSpPr>
          <p:cNvPr id="26" name="Text 24"/>
          <p:cNvSpPr/>
          <p:nvPr/>
        </p:nvSpPr>
        <p:spPr>
          <a:xfrm>
            <a:off x="6844284" y="3511296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Gallery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477756" y="3511296"/>
            <a:ext cx="19613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연구실 사진 (Lab Life)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66928" y="4443984"/>
            <a:ext cx="5344668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9525">
            <a:solidFill>
              <a:srgbClr val="D9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1248" y="4736592"/>
            <a:ext cx="164592" cy="164592"/>
          </a:xfrm>
          <a:prstGeom prst="ellipse">
            <a:avLst/>
          </a:prstGeom>
          <a:solidFill>
            <a:srgbClr val="0C2E86"/>
          </a:solidFill>
          <a:ln/>
        </p:spPr>
      </p:sp>
      <p:sp>
        <p:nvSpPr>
          <p:cNvPr id="30" name="Text 28"/>
          <p:cNvSpPr/>
          <p:nvPr/>
        </p:nvSpPr>
        <p:spPr>
          <a:xfrm>
            <a:off x="1133856" y="4443984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Members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767328" y="4443984"/>
            <a:ext cx="19613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구성원·졸업생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77356" y="4443984"/>
            <a:ext cx="5344668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9525">
            <a:solidFill>
              <a:srgbClr val="D9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551676" y="4736592"/>
            <a:ext cx="164592" cy="164592"/>
          </a:xfrm>
          <a:prstGeom prst="ellipse">
            <a:avLst/>
          </a:prstGeom>
          <a:solidFill>
            <a:srgbClr val="C29A2E"/>
          </a:solidFill>
          <a:ln/>
        </p:spPr>
      </p:sp>
      <p:sp>
        <p:nvSpPr>
          <p:cNvPr id="34" name="Text 32"/>
          <p:cNvSpPr/>
          <p:nvPr/>
        </p:nvSpPr>
        <p:spPr>
          <a:xfrm>
            <a:off x="6844284" y="4443984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Lab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477756" y="4443984"/>
            <a:ext cx="19613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연구실 소개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66928" y="5376672"/>
            <a:ext cx="5344668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9525">
            <a:solidFill>
              <a:srgbClr val="D9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41248" y="5669280"/>
            <a:ext cx="164592" cy="164592"/>
          </a:xfrm>
          <a:prstGeom prst="ellipse">
            <a:avLst/>
          </a:prstGeom>
          <a:solidFill>
            <a:srgbClr val="0C2E86"/>
          </a:solidFill>
          <a:ln/>
        </p:spPr>
      </p:sp>
      <p:sp>
        <p:nvSpPr>
          <p:cNvPr id="38" name="Text 36"/>
          <p:cNvSpPr/>
          <p:nvPr/>
        </p:nvSpPr>
        <p:spPr>
          <a:xfrm>
            <a:off x="1133856" y="5376672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News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3767328" y="5376672"/>
            <a:ext cx="19613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소식·수상·활동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277356" y="5376672"/>
            <a:ext cx="5344668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9525">
            <a:solidFill>
              <a:srgbClr val="D9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551676" y="5669280"/>
            <a:ext cx="164592" cy="164592"/>
          </a:xfrm>
          <a:prstGeom prst="ellipse">
            <a:avLst/>
          </a:prstGeom>
          <a:solidFill>
            <a:srgbClr val="C29A2E"/>
          </a:solidFill>
          <a:ln/>
        </p:spPr>
      </p:sp>
      <p:sp>
        <p:nvSpPr>
          <p:cNvPr id="42" name="Text 40"/>
          <p:cNvSpPr/>
          <p:nvPr/>
        </p:nvSpPr>
        <p:spPr>
          <a:xfrm>
            <a:off x="6844284" y="5376672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Posts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477756" y="5376672"/>
            <a:ext cx="19613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공지·게시판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PHI Lab 홈페이지 운영 매뉴얼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D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홈페이지는 이렇게 운영됩니다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0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화면에서 입력하면 → 데이터베이스에 저장되고 → 홈페이지에 즉시 반영됩니다. (재배포 불필요)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33756" y="2468880"/>
            <a:ext cx="3200400" cy="2103120"/>
          </a:xfrm>
          <a:prstGeom prst="roundRect">
            <a:avLst>
              <a:gd name="adj" fmla="val 4348"/>
            </a:avLst>
          </a:prstGeom>
          <a:solidFill>
            <a:srgbClr val="10265E"/>
          </a:solidFill>
          <a:ln w="12700">
            <a:solidFill>
              <a:srgbClr val="2C4894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13916" y="2788920"/>
            <a:ext cx="640080" cy="640080"/>
          </a:xfrm>
          <a:prstGeom prst="ellipse">
            <a:avLst/>
          </a:prstGeom>
          <a:solidFill>
            <a:srgbClr val="C29A2E"/>
          </a:solidFill>
          <a:ln/>
        </p:spPr>
      </p:sp>
      <p:sp>
        <p:nvSpPr>
          <p:cNvPr id="7" name="Text 5"/>
          <p:cNvSpPr/>
          <p:nvPr/>
        </p:nvSpPr>
        <p:spPr>
          <a:xfrm>
            <a:off x="1613916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16636" y="35204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화면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16636" y="38862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7D0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 로그인 후</a:t>
            </a:r>
            <a:endParaRPr lang="en-US" sz="12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7D0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뉴스·사진·프로필 입력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07308" y="2468880"/>
            <a:ext cx="81381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29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494276" y="2468880"/>
            <a:ext cx="3200400" cy="2103120"/>
          </a:xfrm>
          <a:prstGeom prst="roundRect">
            <a:avLst>
              <a:gd name="adj" fmla="val 4348"/>
            </a:avLst>
          </a:prstGeom>
          <a:solidFill>
            <a:srgbClr val="10265E"/>
          </a:solidFill>
          <a:ln w="12700">
            <a:solidFill>
              <a:srgbClr val="2C4894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74436" y="2788920"/>
            <a:ext cx="640080" cy="640080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3" name="Text 11"/>
          <p:cNvSpPr/>
          <p:nvPr/>
        </p:nvSpPr>
        <p:spPr>
          <a:xfrm>
            <a:off x="5774436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77156" y="35204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77156" y="38862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7D0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· 로그인 · 이미지</a:t>
            </a:r>
            <a:endParaRPr lang="en-US" sz="12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7D0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안전하게 저장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67828" y="2468880"/>
            <a:ext cx="81381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29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654796" y="2468880"/>
            <a:ext cx="3200400" cy="2103120"/>
          </a:xfrm>
          <a:prstGeom prst="roundRect">
            <a:avLst>
              <a:gd name="adj" fmla="val 4348"/>
            </a:avLst>
          </a:prstGeom>
          <a:solidFill>
            <a:srgbClr val="10265E"/>
          </a:solidFill>
          <a:ln w="12700">
            <a:solidFill>
              <a:srgbClr val="2C4894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934956" y="2788920"/>
            <a:ext cx="640080" cy="640080"/>
          </a:xfrm>
          <a:prstGeom prst="ellipse">
            <a:avLst/>
          </a:prstGeom>
          <a:solidFill>
            <a:srgbClr val="E7D6A6"/>
          </a:solidFill>
          <a:ln/>
        </p:spPr>
      </p:sp>
      <p:sp>
        <p:nvSpPr>
          <p:cNvPr id="19" name="Text 17"/>
          <p:cNvSpPr/>
          <p:nvPr/>
        </p:nvSpPr>
        <p:spPr>
          <a:xfrm>
            <a:off x="9934956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837676" y="35204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philabcuk.org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837676" y="38862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7D0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방문자에게</a:t>
            </a:r>
            <a:endParaRPr lang="en-US" sz="12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7D0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노출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5029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7D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코드·디자인 변경은 개발 담당(GitHub·Render)의 몫이고, 콘텐츠는 구성원이 직접 채웁니다.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C3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PHI Lab 홈페이지 운영 매뉴얼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C3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9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SIGN 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페이지 로그인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66928" cy="566928"/>
          </a:xfrm>
          <a:prstGeom prst="ellipse">
            <a:avLst/>
          </a:prstGeom>
          <a:solidFill>
            <a:srgbClr val="0C2E86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783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89888" y="1764792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philabcuk.org 접속 → 우측 상단 ‘로그인’ 클릭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66928" y="2514600"/>
            <a:ext cx="566928" cy="566928"/>
          </a:xfrm>
          <a:prstGeom prst="ellipse">
            <a:avLst/>
          </a:prstGeom>
          <a:solidFill>
            <a:srgbClr val="0C2E86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5146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89888" y="2496312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 계정으로 로그인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389888" y="28803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초대받은(등록된) 이메일 계정을 사용합니다.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483864"/>
            <a:ext cx="566928" cy="566928"/>
          </a:xfrm>
          <a:prstGeom prst="ellipse">
            <a:avLst/>
          </a:prstGeom>
          <a:solidFill>
            <a:srgbClr val="0C2E86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4838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89888" y="3465576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화이트리스트 계정만 입장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389888" y="3849624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안 된 계정은 접근이 막힙니다 — 관리자에게 초대를 요청하세요.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453128"/>
            <a:ext cx="566928" cy="566928"/>
          </a:xfrm>
          <a:prstGeom prst="ellipse">
            <a:avLst/>
          </a:prstGeom>
          <a:solidFill>
            <a:srgbClr val="0C2E86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44531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89888" y="443484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우측 상단 ‘마이페이지’ → 관리자 화면</a:t>
            </a:r>
            <a:endParaRPr lang="en-US" sz="1550" dirty="0"/>
          </a:p>
        </p:txBody>
      </p:sp>
      <p:pic>
        <p:nvPicPr>
          <p:cNvPr id="18" name="Image 0" descr="C:\Users\arcan\Documents\manual_shots\shot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783080"/>
            <a:ext cx="3474720" cy="3630168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7955280" y="1783080"/>
            <a:ext cx="3474720" cy="3630168"/>
          </a:xfrm>
          <a:prstGeom prst="rect">
            <a:avLst/>
          </a:prstGeom>
          <a:ln w="12700">
            <a:solidFill>
              <a:srgbClr val="9AA3B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72400" y="55046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관리자 로그인 화면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" y="5623560"/>
            <a:ext cx="6675120" cy="777240"/>
          </a:xfrm>
          <a:prstGeom prst="roundRect">
            <a:avLst>
              <a:gd name="adj" fmla="val 10588"/>
            </a:avLst>
          </a:prstGeom>
          <a:solidFill>
            <a:srgbClr val="F6F1E1"/>
          </a:solidFill>
          <a:ln w="9525">
            <a:solidFill>
              <a:srgbClr val="D9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22960" y="562356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9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알아두기  </a:t>
            </a:r>
            <a:pPr indent="0" marL="0">
              <a:buNone/>
            </a:pPr>
            <a:r>
              <a:rPr lang="en-US" sz="1250" dirty="0">
                <a:solidFill>
                  <a:srgbClr val="2024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없는 계정은 ‘접근 권한 없음’ 화면 — 오류가 아니라 정상 동작.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PHI Lab 홈페이지 운영 매뉴얼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9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무엇을 할 수 있나 (권한)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28800"/>
          <a:ext cx="11055096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7854696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등급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 수 있는 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A4E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61A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Admin / Professor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61A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(에디터)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4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콘텐츠 관리 — 구성원·논문·연구·강의·기관 관리 + 아래 공통 기능 모두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61A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Researcher / Alumni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61A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(공통)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4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프로필(My Profile), News, Gallery, Posts 작성·관리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029200"/>
            <a:ext cx="11055096" cy="822960"/>
          </a:xfrm>
          <a:prstGeom prst="roundRect">
            <a:avLst>
              <a:gd name="adj" fmla="val 10000"/>
            </a:avLst>
          </a:prstGeom>
          <a:solidFill>
            <a:srgbClr val="F6F1E1"/>
          </a:solidFill>
          <a:ln w="9525">
            <a:solidFill>
              <a:srgbClr val="D9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41248" y="5029200"/>
            <a:ext cx="105064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9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정책(RLS)  </a:t>
            </a:r>
            <a:pPr indent="0" marL="0">
              <a:buNone/>
            </a:pPr>
            <a:r>
              <a:rPr lang="en-US" sz="1300" dirty="0">
                <a:solidFill>
                  <a:srgbClr val="2024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수정·삭제는 ‘본인이 쓴 글’ 또는 ‘에디터’만 가능합니다. 남의 글은 함부로 지울 수 없게 되어 있습니다.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PHI Lab 홈페이지 운영 매뉴얼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9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 MENU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화면 메뉴 구성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 사이드바가 관리 메뉴입니다 — 공통(모든 구성원) · Admin(에디터 전용).</a:t>
            </a:r>
            <a:endParaRPr lang="en-US" sz="1350" dirty="0"/>
          </a:p>
        </p:txBody>
      </p:sp>
      <p:pic>
        <p:nvPicPr>
          <p:cNvPr id="5" name="Image 0" descr="C:\Users\arcan\Documents\manual_shots\shot_me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248" y="1847088"/>
            <a:ext cx="8229600" cy="43525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984248" y="1847088"/>
            <a:ext cx="8229600" cy="4352544"/>
          </a:xfrm>
          <a:prstGeom prst="rect">
            <a:avLst/>
          </a:prstGeom>
          <a:ln w="12700">
            <a:solidFill>
              <a:srgbClr val="9AA3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984248" y="62727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관리자 대시보드 — 사이드바 메뉴 + 섹션별 카드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PHI Lab 홈페이지 운영 매뉴얼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9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NEWS · STEP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News 작성하기 ①  새 글 쓰기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493776" cy="493776"/>
          </a:xfrm>
          <a:prstGeom prst="ellipse">
            <a:avLst/>
          </a:prstGeom>
          <a:solidFill>
            <a:srgbClr val="0C2E86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4592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591056"/>
            <a:ext cx="203225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News → ‘+ 새 뉴스’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0702" y="1645920"/>
            <a:ext cx="493776" cy="493776"/>
          </a:xfrm>
          <a:prstGeom prst="ellipse">
            <a:avLst/>
          </a:prstGeom>
          <a:solidFill>
            <a:srgbClr val="0C2E86"/>
          </a:solidFill>
          <a:ln/>
        </p:spPr>
      </p:sp>
      <p:sp>
        <p:nvSpPr>
          <p:cNvPr id="8" name="Text 6"/>
          <p:cNvSpPr/>
          <p:nvPr/>
        </p:nvSpPr>
        <p:spPr>
          <a:xfrm>
            <a:off x="3330702" y="164592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952494" y="1591056"/>
            <a:ext cx="203225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상태: 초안 / 발행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94476" y="1645920"/>
            <a:ext cx="493776" cy="493776"/>
          </a:xfrm>
          <a:prstGeom prst="ellipse">
            <a:avLst/>
          </a:prstGeom>
          <a:solidFill>
            <a:srgbClr val="0C2E86"/>
          </a:solidFill>
          <a:ln/>
        </p:spPr>
      </p:sp>
      <p:sp>
        <p:nvSpPr>
          <p:cNvPr id="11" name="Text 9"/>
          <p:cNvSpPr/>
          <p:nvPr/>
        </p:nvSpPr>
        <p:spPr>
          <a:xfrm>
            <a:off x="6094476" y="164592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16268" y="1591056"/>
            <a:ext cx="203225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게시 날짜 지정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58250" y="1645920"/>
            <a:ext cx="493776" cy="493776"/>
          </a:xfrm>
          <a:prstGeom prst="ellipse">
            <a:avLst/>
          </a:prstGeom>
          <a:solidFill>
            <a:srgbClr val="0C2E86"/>
          </a:solidFill>
          <a:ln/>
        </p:spPr>
      </p:sp>
      <p:sp>
        <p:nvSpPr>
          <p:cNvPr id="14" name="Text 12"/>
          <p:cNvSpPr/>
          <p:nvPr/>
        </p:nvSpPr>
        <p:spPr>
          <a:xfrm>
            <a:off x="8858250" y="164592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80042" y="1591056"/>
            <a:ext cx="203225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 입력 → 저장</a:t>
            </a:r>
            <a:endParaRPr lang="en-US" sz="1300" dirty="0"/>
          </a:p>
        </p:txBody>
      </p:sp>
      <p:pic>
        <p:nvPicPr>
          <p:cNvPr id="16" name="Image 0" descr="C:\Users\arcan\Documents\manual_shots\shot_news_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904" y="2606040"/>
            <a:ext cx="9144000" cy="2944368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1517904" y="2606040"/>
            <a:ext cx="9144000" cy="2944368"/>
          </a:xfrm>
          <a:prstGeom prst="rect">
            <a:avLst/>
          </a:prstGeom>
          <a:ln w="12700">
            <a:solidFill>
              <a:srgbClr val="9AA3B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517904" y="56235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실제 News 목록 — 상태 · 작성자 · 게시일 · 편집/삭제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66928" y="60533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9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  </a:t>
            </a:r>
            <a:pPr algn="ctr" indent="0" marL="0">
              <a:buNone/>
            </a:pPr>
            <a:r>
              <a:rPr lang="en-US" sz="1300" dirty="0">
                <a:solidFill>
                  <a:srgbClr val="2024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‘초안’은 공개 페이지에 안 보입니다 — 완성 후 ‘발행’으로 바꿔야 노출.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PHI Lab 홈페이지 운영 매뉴얼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9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NEWS · STEP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News 작성하기 ②  본문 &amp; 이미지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85216" y="1810512"/>
            <a:ext cx="146304" cy="146304"/>
          </a:xfrm>
          <a:prstGeom prst="ellipse">
            <a:avLst/>
          </a:prstGeom>
          <a:solidFill>
            <a:srgbClr val="C29A2E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" y="1700784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 편집: ‘/’ 입력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77824" y="2066544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제목·목록·이미지 등 블록 메뉴가 열립니다 (노션 스타일).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85216" y="2779776"/>
            <a:ext cx="146304" cy="146304"/>
          </a:xfrm>
          <a:prstGeom prst="ellipse">
            <a:avLst/>
          </a:prstGeom>
          <a:solidFill>
            <a:srgbClr val="C29A2E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267004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 썸네일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77824" y="3035808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썸네일은 본문의 첫 이미지를 자동으로 사용합니다.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5216" y="3749040"/>
            <a:ext cx="146304" cy="146304"/>
          </a:xfrm>
          <a:prstGeom prst="ellipse">
            <a:avLst/>
          </a:prstGeom>
          <a:solidFill>
            <a:srgbClr val="C29A2E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363931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이미지가 없으면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77824" y="4005072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가대 시그니처 기본 카드 이미지가 자동으로 적용됩니다.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85216" y="4718304"/>
            <a:ext cx="146304" cy="146304"/>
          </a:xfrm>
          <a:prstGeom prst="ellipse">
            <a:avLst/>
          </a:prstGeom>
          <a:solidFill>
            <a:srgbClr val="C29A2E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" y="4608576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저장 방지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77824" y="4974336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중엔 버튼이 ‘저장 중…’으로 비활성 — 두 번 눌러도 하나만 생성됩니다.</a:t>
            </a:r>
            <a:endParaRPr lang="en-US" sz="1250" dirty="0"/>
          </a:p>
        </p:txBody>
      </p:sp>
      <p:pic>
        <p:nvPicPr>
          <p:cNvPr id="16" name="Image 0" descr="C:\Users\arcan\Documents\manual_shots\shot_news_ed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737360"/>
            <a:ext cx="4206240" cy="4197096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7086600" y="1737360"/>
            <a:ext cx="4206240" cy="4197096"/>
          </a:xfrm>
          <a:prstGeom prst="rect">
            <a:avLst/>
          </a:prstGeom>
          <a:ln w="12700">
            <a:solidFill>
              <a:srgbClr val="9AA3B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86600" y="597103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‘새 뉴스’ 작성 폼 (상태 · 게시날짜 · 본문 ‘/’)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66928" y="5669280"/>
            <a:ext cx="6309360" cy="685800"/>
          </a:xfrm>
          <a:prstGeom prst="roundRect">
            <a:avLst>
              <a:gd name="adj" fmla="val 12000"/>
            </a:avLst>
          </a:prstGeom>
          <a:solidFill>
            <a:srgbClr val="EEF2FB"/>
          </a:solidFill>
          <a:ln w="9525">
            <a:solidFill>
              <a:srgbClr val="D9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22960" y="5669280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2E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  </a:t>
            </a:r>
            <a:pPr indent="0" marL="0">
              <a:buNone/>
            </a:pPr>
            <a:r>
              <a:rPr lang="en-US" sz="1250" dirty="0">
                <a:solidFill>
                  <a:srgbClr val="2024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이미지는 미리 가로 ~1600px로 줄여 올리면 빠름.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PHI Lab 홈페이지 운영 매뉴얼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9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GALLERY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Gallery 관리하기 (연구실 사진)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85216" y="1810512"/>
            <a:ext cx="146304" cy="146304"/>
          </a:xfrm>
          <a:prstGeom prst="ellipse">
            <a:avLst/>
          </a:prstGeom>
          <a:solidFill>
            <a:srgbClr val="C29A2E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" y="170078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장 한 번에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77824" y="2066544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‘+ 새 사진’에서 여러 파일을 한꺼번에 선택·업로드할 수 있습니다.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85216" y="2779776"/>
            <a:ext cx="146304" cy="146304"/>
          </a:xfrm>
          <a:prstGeom prst="ellipse">
            <a:avLst/>
          </a:prstGeom>
          <a:solidFill>
            <a:srgbClr val="C29A2E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267004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입력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77824" y="3035808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캡션(선택) · 앨범(예: 2026 MT) · 촬영일 · 순서를 함께 지정합니다.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5216" y="3749040"/>
            <a:ext cx="146304" cy="146304"/>
          </a:xfrm>
          <a:prstGeom prst="ellipse">
            <a:avLst/>
          </a:prstGeom>
          <a:solidFill>
            <a:srgbClr val="C29A2E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363931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리사이즈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77824" y="4005072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 전 자동으로 크기를 줄여 올립니다 — 대용량 원본도 OK.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85216" y="4718304"/>
            <a:ext cx="146304" cy="146304"/>
          </a:xfrm>
          <a:prstGeom prst="ellipse">
            <a:avLst/>
          </a:prstGeom>
          <a:solidFill>
            <a:srgbClr val="C29A2E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" y="4608576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앨범 정렬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77824" y="4974336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앨범은 ‘그 앨범의 가장 빠른 촬영일’ 기준 최신순 — 촬영일로 순서를 조정합니다.</a:t>
            </a:r>
            <a:endParaRPr lang="en-US" sz="1250" dirty="0"/>
          </a:p>
        </p:txBody>
      </p:sp>
      <p:pic>
        <p:nvPicPr>
          <p:cNvPr id="16" name="Image 0" descr="C:\Users\arcan\Documents\manual_shots\shot_gall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783080"/>
            <a:ext cx="4983480" cy="2624328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629400" y="1783080"/>
            <a:ext cx="4983480" cy="2624328"/>
          </a:xfrm>
          <a:prstGeom prst="rect">
            <a:avLst/>
          </a:prstGeom>
          <a:ln w="12700">
            <a:solidFill>
              <a:srgbClr val="9AA3B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29400" y="448056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Gallery ‘새 사진’ — 여러 장 · 앨범 · 촬영일 · 순서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66928" y="5623560"/>
            <a:ext cx="11055096" cy="713232"/>
          </a:xfrm>
          <a:prstGeom prst="roundRect">
            <a:avLst>
              <a:gd name="adj" fmla="val 11538"/>
            </a:avLst>
          </a:prstGeom>
          <a:solidFill>
            <a:srgbClr val="F6F1E1"/>
          </a:solidFill>
          <a:ln w="9525">
            <a:solidFill>
              <a:srgbClr val="D9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41248" y="5623560"/>
            <a:ext cx="1050645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9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앨범 묶음  </a:t>
            </a:r>
            <a:pPr indent="0" marL="0">
              <a:buNone/>
            </a:pPr>
            <a:r>
              <a:rPr lang="en-US" sz="1300" dirty="0">
                <a:solidFill>
                  <a:srgbClr val="2024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앨범명끼리 자동으로 묶입니다. 앨범을 비우면 ‘Lab Life’ 그룹으로 들어갑니다.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PHI Lab 홈페이지 운영 매뉴얼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9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POSTS &amp; PROFILE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Posts(게시판) · 내 프로필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298948" cy="4023360"/>
          </a:xfrm>
          <a:prstGeom prst="roundRect">
            <a:avLst>
              <a:gd name="adj" fmla="val 2045"/>
            </a:avLst>
          </a:prstGeom>
          <a:solidFill>
            <a:srgbClr val="EEF2FB"/>
          </a:solidFill>
          <a:ln w="9525">
            <a:solidFill>
              <a:srgbClr val="D9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2057400"/>
            <a:ext cx="45674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Posts (게시판)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24128" y="2697480"/>
            <a:ext cx="4475988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4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공지·소통을 위한 글 목록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4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공지 고정(pinned) → 목록 맨 위 Notice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4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조회수 자동 표시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4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News와 동일하게 초안 / 발행 상태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23076" y="1783080"/>
            <a:ext cx="5298948" cy="4023360"/>
          </a:xfrm>
          <a:prstGeom prst="roundRect">
            <a:avLst>
              <a:gd name="adj" fmla="val 2045"/>
            </a:avLst>
          </a:prstGeom>
          <a:solidFill>
            <a:srgbClr val="F6F1E1"/>
          </a:solidFill>
          <a:ln w="9525">
            <a:solidFill>
              <a:srgbClr val="D9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88836" y="2057400"/>
            <a:ext cx="45674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프로필 (My Profile)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780276" y="2697480"/>
            <a:ext cx="4475988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4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· 연구 관심사 직접 수정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4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· 링크(Google Scholar·LinkedIn)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4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시 Members 페이지에 즉시 반영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4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 정보만 수정 가능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PHI Lab 홈페이지 운영 매뉴얼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9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STYLE GUIDE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작성 가이드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44668" cy="1600200"/>
          </a:xfrm>
          <a:prstGeom prst="roundRect">
            <a:avLst>
              <a:gd name="adj" fmla="val 5143"/>
            </a:avLst>
          </a:prstGeom>
          <a:solidFill>
            <a:srgbClr val="EEF2FB"/>
          </a:solidFill>
          <a:ln w="9525">
            <a:solidFill>
              <a:srgbClr val="D9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2039112"/>
            <a:ext cx="47045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영어 우선 / 한영 병기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86968" y="2560320"/>
            <a:ext cx="47045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사이트 전체가 영어 우선, 필요 시 한글을 함께 적는 규칙을 따릅니다.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77356" y="1783080"/>
            <a:ext cx="5344668" cy="1600200"/>
          </a:xfrm>
          <a:prstGeom prst="roundRect">
            <a:avLst>
              <a:gd name="adj" fmla="val 5143"/>
            </a:avLst>
          </a:prstGeom>
          <a:solidFill>
            <a:srgbClr val="F6F1E1"/>
          </a:solidFill>
          <a:ln w="9525">
            <a:solidFill>
              <a:srgbClr val="D9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97396" y="2039112"/>
            <a:ext cx="47045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규격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97396" y="2560320"/>
            <a:ext cx="47045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가로 ~1600px 권장 · jpg / png / webp · 너무 큰 원본은 미리 줄이기.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3703320"/>
            <a:ext cx="5344668" cy="1600200"/>
          </a:xfrm>
          <a:prstGeom prst="roundRect">
            <a:avLst>
              <a:gd name="adj" fmla="val 5143"/>
            </a:avLst>
          </a:prstGeom>
          <a:solidFill>
            <a:srgbClr val="EEF2FB"/>
          </a:solidFill>
          <a:ln w="9525">
            <a:solidFill>
              <a:srgbClr val="D9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86968" y="3959352"/>
            <a:ext cx="47045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캡션 · 날짜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6968" y="4480560"/>
            <a:ext cx="47045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캡션은 간결하게, 날짜는 실제 게시일로 정확히.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77356" y="3703320"/>
            <a:ext cx="5344668" cy="1600200"/>
          </a:xfrm>
          <a:prstGeom prst="roundRect">
            <a:avLst>
              <a:gd name="adj" fmla="val 5143"/>
            </a:avLst>
          </a:prstGeom>
          <a:solidFill>
            <a:srgbClr val="F6F1E1"/>
          </a:solidFill>
          <a:ln w="9525">
            <a:solidFill>
              <a:srgbClr val="D9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97396" y="3959352"/>
            <a:ext cx="47045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제목은 핵심만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97396" y="4480560"/>
            <a:ext cx="47045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제목은 목록·검색 결과·브라우저 탭 제목에 그대로 쓰입니다.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PHI Lab 홈페이지 운영 매뉴얼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9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FAQ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겪는 문제 &amp; 해결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9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5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로그인했는데 관리자 화면 접근이 막혀요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12648" y="2020824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9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화이트리스트 미등록 계정입니다. 관리자에게 초대를 요청하세요.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2560320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9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5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쓴 글이 사이트에 안 보여요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12648" y="2889504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9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상태가 ‘초안’입니다. ‘발행’으로 바꾸세요.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3429000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9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5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이미지가 안 올라가요 / 안 보여요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12648" y="3758184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9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 실패 또는 용량 초과(10MB). 파일을 줄여 다시 시도.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4297680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9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5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글이 2개로 복제됐어요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12648" y="4626864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9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저장을 두 번 누른 경우입니다(현재 방지됨). 중복은 삭제하세요.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66928" y="5166360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9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5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 버튼이 눌리지 않아요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12648" y="5495544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9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‘삭제 모드 ON’을 켜야 삭제 버튼이 활성화됩니다.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PHI Lab 홈페이지 운영 매뉴얼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9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 OPERATION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안전 수칙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8640" cy="548640"/>
          </a:xfrm>
          <a:prstGeom prst="ellipse">
            <a:avLst/>
          </a:prstGeom>
          <a:solidFill>
            <a:srgbClr val="0C2E86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89888" y="174650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삭제는 신중히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389888" y="2112264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삭제한 콘텐츠는 되돌리기 어렵습니다. 지우기 전에 한 번 더 확인.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807208"/>
            <a:ext cx="548640" cy="548640"/>
          </a:xfrm>
          <a:prstGeom prst="ellipse">
            <a:avLst/>
          </a:prstGeom>
          <a:solidFill>
            <a:srgbClr val="C29A2E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8072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89888" y="27706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발행 전 미리보기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389888" y="313639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전에 ‘미리보기’로 실제 노출 모습을 확인합니다.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831336"/>
            <a:ext cx="548640" cy="548640"/>
          </a:xfrm>
          <a:prstGeom prst="ellipse">
            <a:avLst/>
          </a:prstGeom>
          <a:solidFill>
            <a:srgbClr val="0C2E86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831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89888" y="3794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밖은 손대지 않기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389888" y="416052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 권한 밖의 다른 사람 콘텐츠는 임의로 수정하지 않습니다.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855464"/>
            <a:ext cx="548640" cy="548640"/>
          </a:xfrm>
          <a:prstGeom prst="ellipse">
            <a:avLst/>
          </a:prstGeom>
          <a:solidFill>
            <a:srgbClr val="C29A2E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8554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89888" y="481888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확신 없으면 문의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389888" y="518464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헷갈리면 먼저 관리자에게 물어보세요 — 그게 가장 빠릅니다.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PHI Lab 홈페이지 운영 매뉴얼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9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BEHIND THE SCENES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무대 뒤: 개발 &amp; 배포 (참고용)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16636" y="1965960"/>
            <a:ext cx="3383280" cy="2286000"/>
          </a:xfrm>
          <a:prstGeom prst="roundRect">
            <a:avLst>
              <a:gd name="adj" fmla="val 3600"/>
            </a:avLst>
          </a:prstGeom>
          <a:solidFill>
            <a:srgbClr val="EEF2FB"/>
          </a:solidFill>
          <a:ln w="9525">
            <a:solidFill>
              <a:srgbClr val="D9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42516" y="2331720"/>
            <a:ext cx="731520" cy="731520"/>
          </a:xfrm>
          <a:prstGeom prst="ellipse">
            <a:avLst/>
          </a:prstGeom>
          <a:solidFill>
            <a:srgbClr val="0C2E86"/>
          </a:solidFill>
          <a:ln/>
        </p:spPr>
      </p:sp>
      <p:sp>
        <p:nvSpPr>
          <p:cNvPr id="6" name="Text 4"/>
          <p:cNvSpPr/>
          <p:nvPr/>
        </p:nvSpPr>
        <p:spPr>
          <a:xfrm>
            <a:off x="1842516" y="2331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99516" y="32004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5236" y="36118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 코드 보관·버전 관리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02836" y="1965960"/>
            <a:ext cx="3383280" cy="2286000"/>
          </a:xfrm>
          <a:prstGeom prst="roundRect">
            <a:avLst>
              <a:gd name="adj" fmla="val 3600"/>
            </a:avLst>
          </a:prstGeom>
          <a:solidFill>
            <a:srgbClr val="EEF2FB"/>
          </a:solidFill>
          <a:ln w="9525">
            <a:solidFill>
              <a:srgbClr val="D9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28716" y="2331720"/>
            <a:ext cx="731520" cy="731520"/>
          </a:xfrm>
          <a:prstGeom prst="ellipse">
            <a:avLst/>
          </a:prstGeom>
          <a:solidFill>
            <a:srgbClr val="C29A2E"/>
          </a:solidFill>
          <a:ln/>
        </p:spPr>
      </p:sp>
      <p:sp>
        <p:nvSpPr>
          <p:cNvPr id="11" name="Text 9"/>
          <p:cNvSpPr/>
          <p:nvPr/>
        </p:nvSpPr>
        <p:spPr>
          <a:xfrm>
            <a:off x="5728716" y="2331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85716" y="32004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Render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31436" y="36118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바뀌면 자동으로 사이트 배포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89036" y="1965960"/>
            <a:ext cx="3383280" cy="2286000"/>
          </a:xfrm>
          <a:prstGeom prst="roundRect">
            <a:avLst>
              <a:gd name="adj" fmla="val 3600"/>
            </a:avLst>
          </a:prstGeom>
          <a:solidFill>
            <a:srgbClr val="EEF2FB"/>
          </a:solidFill>
          <a:ln w="9525">
            <a:solidFill>
              <a:srgbClr val="D9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14916" y="2331720"/>
            <a:ext cx="731520" cy="731520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6" name="Text 14"/>
          <p:cNvSpPr/>
          <p:nvPr/>
        </p:nvSpPr>
        <p:spPr>
          <a:xfrm>
            <a:off x="9614916" y="2331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471916" y="32004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1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17636" y="36118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· 로그인 · 이미지 저장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" y="4937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운영(뉴스·사진·프로필)과는 분리되어 있습니다. 코드·디자인 변경이 필요하면 개발 담당에게 요청하세요.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PHI Lab 홈페이지 운영 매뉴얼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1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023360"/>
            <a:ext cx="4206240" cy="4206240"/>
          </a:xfrm>
          <a:prstGeom prst="ellipse">
            <a:avLst/>
          </a:prstGeom>
          <a:solidFill>
            <a:srgbClr val="0C2E86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280160"/>
            <a:ext cx="3291840" cy="3291840"/>
          </a:xfrm>
          <a:prstGeom prst="ellipse">
            <a:avLst/>
          </a:prstGeom>
          <a:solidFill>
            <a:srgbClr val="17357F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7D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NEED HELP?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도움이 필요하면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2880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C3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· 공용 계정   </a:t>
            </a:r>
            <a:pPr indent="0" marL="0">
              <a:buNone/>
            </a:pPr>
            <a:r>
              <a:rPr lang="en-US" sz="1800" b="1" dirty="0">
                <a:solidFill>
                  <a:srgbClr val="E7D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philab.cuk@gmail.com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66928" y="3429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초대 요청</a:t>
            </a:r>
            <a:pPr indent="0" marL="0">
              <a:buNone/>
            </a:pPr>
            <a:r>
              <a:rPr lang="en-US" sz="1500" dirty="0">
                <a:solidFill>
                  <a:srgbClr val="C29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문의</a:t>
            </a:r>
            <a:pPr indent="0" marL="0">
              <a:buNone/>
            </a:pPr>
            <a:r>
              <a:rPr lang="en-US" sz="1500" dirty="0">
                <a:solidFill>
                  <a:srgbClr val="C29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매뉴얼 최신본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4297680"/>
            <a:ext cx="3840480" cy="0"/>
          </a:xfrm>
          <a:prstGeom prst="line">
            <a:avLst/>
          </a:prstGeom>
          <a:noFill/>
          <a:ln w="19050">
            <a:solidFill>
              <a:srgbClr val="C29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45262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환영합니다 — PHI Lab!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66928" y="5257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3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philabcuk.org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 Lab 홈페이지 운영 매뉴얼</dc:title>
  <dc:subject>PptxGenJS Presentation</dc:subject>
  <dc:creator>PHI Lab</dc:creator>
  <cp:lastModifiedBy>PHI Lab</cp:lastModifiedBy>
  <cp:revision>1</cp:revision>
  <dcterms:created xsi:type="dcterms:W3CDTF">2026-07-18T05:15:38Z</dcterms:created>
  <dcterms:modified xsi:type="dcterms:W3CDTF">2026-07-18T05:15:38Z</dcterms:modified>
</cp:coreProperties>
</file>